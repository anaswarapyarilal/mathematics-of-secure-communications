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2" r:id="rId4"/>
    <p:sldId id="258" r:id="rId5"/>
    <p:sldId id="259" r:id="rId6"/>
    <p:sldId id="271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70" r:id="rId16"/>
    <p:sldId id="273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22F847-4E22-4A5F-BD4C-B47662F71B8E}" type="datetimeFigureOut">
              <a:rPr lang="en-IN" smtClean="0"/>
              <a:t>21-02-2025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77768-03BB-4536-A254-DC10B88F26E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539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462118" y="1221633"/>
            <a:ext cx="10068233" cy="1096348"/>
          </a:xfrm>
        </p:spPr>
        <p:txBody>
          <a:bodyPr>
            <a:normAutofit/>
          </a:bodyPr>
          <a:lstStyle/>
          <a:p>
            <a:r>
              <a:rPr lang="en-US" sz="3200" b="1" u="sng" dirty="0">
                <a:latin typeface="Bahnschrift SemiBold" panose="020B0502040204020203" pitchFamily="34" charset="0"/>
              </a:rPr>
              <a:t>MATHEMATICS OF SECURE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8257" y="3112855"/>
            <a:ext cx="7767484" cy="1189703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Project Presentation </a:t>
            </a: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By</a:t>
            </a: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ANASWARA PYARILAL</a:t>
            </a:r>
          </a:p>
          <a:p>
            <a:r>
              <a:rPr lang="en-US" dirty="0">
                <a:solidFill>
                  <a:schemeClr val="tx1"/>
                </a:solidFill>
                <a:latin typeface="Bahnschrift" panose="020B0502040204020203" pitchFamily="34" charset="0"/>
              </a:rPr>
              <a:t>DVAWSCM020</a:t>
            </a:r>
            <a:endParaRPr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E3BE55-FB0A-0326-C71D-7F211F18E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490" y="4537585"/>
            <a:ext cx="695018" cy="6950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517EF9A-0588-0470-018A-FF20F4F8524B}"/>
              </a:ext>
            </a:extLst>
          </p:cNvPr>
          <p:cNvSpPr txBox="1">
            <a:spLocks/>
          </p:cNvSpPr>
          <p:nvPr/>
        </p:nvSpPr>
        <p:spPr>
          <a:xfrm>
            <a:off x="688257" y="5247992"/>
            <a:ext cx="7767484" cy="1189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tx1"/>
                </a:solidFill>
                <a:latin typeface="Bahnschrift" panose="020B0502040204020203" pitchFamily="34" charset="0"/>
              </a:rPr>
              <a:t>DEPARTMENT OF MATHEMATICAL SCIENCES</a:t>
            </a:r>
          </a:p>
          <a:p>
            <a:r>
              <a:rPr lang="en-US" sz="1600" dirty="0">
                <a:solidFill>
                  <a:schemeClr val="tx1"/>
                </a:solidFill>
                <a:latin typeface="Bahnschrift" panose="020B0502040204020203" pitchFamily="34" charset="0"/>
              </a:rPr>
              <a:t>ST. JOSEPH’S COLLEGE(AUTONOMOUS),DEVAGIRI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Bahnschrift SemiBold" panose="020B0502040204020203" pitchFamily="34" charset="0"/>
              </a:rPr>
              <a:t>Introduction to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800" dirty="0"/>
              <a:t>Cryptography is the science of securing communication using mathematical techniques. </a:t>
            </a:r>
            <a:endParaRPr lang="en-US" sz="2800" dirty="0"/>
          </a:p>
          <a:p>
            <a:r>
              <a:rPr lang="en-US" sz="2800" b="0" i="0" u="none" strike="noStrike" baseline="0" dirty="0">
                <a:latin typeface="Calibri (body)"/>
              </a:rPr>
              <a:t>It combines mathematics, computer science, and information theory to ensure data confidentiality, integrity and authenticity.</a:t>
            </a:r>
          </a:p>
          <a:p>
            <a:r>
              <a:rPr sz="2800" dirty="0"/>
              <a:t>It ensures confidentiality, integrity, and authentication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F89AE-ED97-BCE8-BB30-67607C70B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Key Terms in Cryptography</a:t>
            </a:r>
            <a:endParaRPr lang="en-IN" sz="3600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7E2D6-307F-E880-D585-47C95D942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5793"/>
            <a:ext cx="8229600" cy="458987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Plaintext</a:t>
            </a:r>
            <a:r>
              <a:rPr lang="en-US" dirty="0"/>
              <a:t>: The message we want to send- readable data.</a:t>
            </a:r>
          </a:p>
          <a:p>
            <a:endParaRPr lang="en-US" dirty="0"/>
          </a:p>
          <a:p>
            <a:r>
              <a:rPr lang="en-US" b="1" dirty="0"/>
              <a:t>Ciphertext</a:t>
            </a:r>
            <a:r>
              <a:rPr lang="en-US" dirty="0"/>
              <a:t>: </a:t>
            </a:r>
            <a:r>
              <a:rPr lang="en-US" dirty="0">
                <a:latin typeface="Calibri (body)"/>
              </a:rPr>
              <a:t>E</a:t>
            </a:r>
            <a:r>
              <a:rPr lang="en-US" b="0" i="0" dirty="0">
                <a:effectLst/>
                <a:latin typeface="Calibri (body)"/>
              </a:rPr>
              <a:t>ncrypted data that is unreadable and can only be read with a decryption key.</a:t>
            </a:r>
            <a:endParaRPr lang="en-US" dirty="0">
              <a:latin typeface="Calibri (body)"/>
            </a:endParaRPr>
          </a:p>
          <a:p>
            <a:endParaRPr lang="en-US" dirty="0"/>
          </a:p>
          <a:p>
            <a:r>
              <a:rPr lang="en-US" b="1" dirty="0"/>
              <a:t>Encryption</a:t>
            </a:r>
            <a:r>
              <a:rPr lang="en-US" dirty="0"/>
              <a:t>: Converting plaintext into ciphertext to make it unreadable to unauthorized parties.</a:t>
            </a:r>
          </a:p>
          <a:p>
            <a:endParaRPr lang="en-US" dirty="0"/>
          </a:p>
          <a:p>
            <a:r>
              <a:rPr lang="en-US" b="1" dirty="0"/>
              <a:t>Decryption</a:t>
            </a:r>
            <a:r>
              <a:rPr lang="en-US" dirty="0"/>
              <a:t>: Reverting ciphertext back to plaintext for authorized users.</a:t>
            </a:r>
          </a:p>
          <a:p>
            <a:endParaRPr lang="en-US" dirty="0"/>
          </a:p>
          <a:p>
            <a:r>
              <a:rPr lang="en-US" b="1" dirty="0"/>
              <a:t>Private key</a:t>
            </a:r>
            <a:r>
              <a:rPr lang="en-US" dirty="0"/>
              <a:t>: </a:t>
            </a:r>
            <a:r>
              <a:rPr lang="en-US" dirty="0">
                <a:latin typeface="Calibri (body)"/>
              </a:rPr>
              <a:t>A</a:t>
            </a:r>
            <a:r>
              <a:rPr lang="en-US" b="0" i="0" dirty="0">
                <a:effectLst/>
                <a:latin typeface="Calibri (body)"/>
              </a:rPr>
              <a:t> cryptographic key that is part of a public-key cryptography system . It is used to encrypt messages and data. </a:t>
            </a:r>
            <a:endParaRPr lang="en-US" dirty="0">
              <a:latin typeface="Calibri (body)"/>
            </a:endParaRPr>
          </a:p>
          <a:p>
            <a:endParaRPr lang="en-US" dirty="0"/>
          </a:p>
          <a:p>
            <a:r>
              <a:rPr lang="en-US" b="1" dirty="0"/>
              <a:t>Public key</a:t>
            </a:r>
            <a:r>
              <a:rPr lang="en-US" dirty="0"/>
              <a:t>:</a:t>
            </a:r>
            <a:r>
              <a:rPr lang="en-US" dirty="0">
                <a:latin typeface="Calibri (body)"/>
              </a:rPr>
              <a:t> A</a:t>
            </a:r>
            <a:r>
              <a:rPr lang="en-US" b="0" i="0" dirty="0">
                <a:effectLst/>
                <a:latin typeface="Calibri (body)"/>
              </a:rPr>
              <a:t> cryptographic key that is used to encrypt and decrypt data. It is also known as a secret key. </a:t>
            </a:r>
            <a:endParaRPr lang="en-US" dirty="0">
              <a:latin typeface="Calibri (body)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95059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1064"/>
            <a:ext cx="8229600" cy="1143000"/>
          </a:xfrm>
        </p:spPr>
        <p:txBody>
          <a:bodyPr>
            <a:normAutofit/>
          </a:bodyPr>
          <a:lstStyle/>
          <a:p>
            <a:r>
              <a:rPr sz="3600" dirty="0">
                <a:latin typeface="Bahnschrift SemiBold" panose="020B0502040204020203" pitchFamily="34" charset="0"/>
              </a:rPr>
              <a:t>History of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690" y="1693606"/>
            <a:ext cx="8229600" cy="3832123"/>
          </a:xfrm>
        </p:spPr>
        <p:txBody>
          <a:bodyPr>
            <a:noAutofit/>
          </a:bodyPr>
          <a:lstStyle/>
          <a:p>
            <a:r>
              <a:rPr lang="en-US" sz="2800" dirty="0"/>
              <a:t>Started years ago , for the deliver of information only to authorized people.</a:t>
            </a:r>
          </a:p>
          <a:p>
            <a:endParaRPr lang="en-US" sz="2800" dirty="0"/>
          </a:p>
          <a:p>
            <a:r>
              <a:rPr sz="2800" dirty="0"/>
              <a:t>Ancient cryptography: Egyptian </a:t>
            </a:r>
            <a:r>
              <a:rPr sz="2800" b="1" dirty="0"/>
              <a:t>hieroglyphs</a:t>
            </a:r>
            <a:r>
              <a:rPr lang="en-US" sz="2800" dirty="0"/>
              <a:t>,</a:t>
            </a:r>
            <a:r>
              <a:rPr sz="2800" dirty="0"/>
              <a:t> </a:t>
            </a:r>
            <a:r>
              <a:rPr sz="2800" b="1" dirty="0"/>
              <a:t>Caesar </a:t>
            </a:r>
            <a:r>
              <a:rPr lang="en-US" sz="2800" b="1" dirty="0"/>
              <a:t>shift method</a:t>
            </a:r>
            <a:r>
              <a:rPr lang="en-US" sz="2800" dirty="0"/>
              <a:t>(Caesar </a:t>
            </a:r>
            <a:r>
              <a:rPr sz="2800" dirty="0"/>
              <a:t>cipher</a:t>
            </a:r>
            <a:r>
              <a:rPr lang="en-US" sz="2800" dirty="0"/>
              <a:t>).</a:t>
            </a:r>
          </a:p>
          <a:p>
            <a:endParaRPr sz="2800" dirty="0"/>
          </a:p>
          <a:p>
            <a:r>
              <a:rPr sz="2800" dirty="0"/>
              <a:t>Modern cryptography:</a:t>
            </a:r>
            <a:r>
              <a:rPr lang="en-US" sz="2800" dirty="0"/>
              <a:t> </a:t>
            </a:r>
            <a:r>
              <a:rPr sz="2800" b="1" dirty="0"/>
              <a:t>Enigma machine</a:t>
            </a:r>
            <a:r>
              <a:rPr sz="2800" dirty="0"/>
              <a:t>, digital enc</a:t>
            </a:r>
            <a:r>
              <a:rPr lang="en-IN" sz="2800" dirty="0" err="1"/>
              <a:t>ryption</a:t>
            </a:r>
            <a:r>
              <a:rPr lang="en-IN" sz="2800" dirty="0"/>
              <a:t>.</a:t>
            </a:r>
          </a:p>
          <a:p>
            <a:endParaRPr lang="en-IN" sz="3000" b="0" i="0" u="none" strike="noStrike" baseline="0" dirty="0">
              <a:latin typeface="Helvetica World"/>
            </a:endParaRPr>
          </a:p>
          <a:p>
            <a:endParaRPr lang="en-IN" sz="3000" b="0" i="0" u="none" strike="noStrike" baseline="0" dirty="0">
              <a:latin typeface="Helvetica World"/>
            </a:endParaRPr>
          </a:p>
          <a:p>
            <a:endParaRPr lang="en-IN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Bahnschrift SemiBold" panose="020B0502040204020203" pitchFamily="34" charset="0"/>
              </a:rPr>
              <a:t>Evolution of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Coding techniques has improved such as </a:t>
            </a:r>
            <a:r>
              <a:rPr lang="en-US" sz="2400" b="1" dirty="0"/>
              <a:t>Vigenère coding </a:t>
            </a:r>
            <a:r>
              <a:rPr lang="en-US" sz="2400" dirty="0"/>
              <a:t>came in to existence in the </a:t>
            </a:r>
            <a:r>
              <a:rPr lang="en-US" sz="2400" b="1" dirty="0"/>
              <a:t>15</a:t>
            </a:r>
            <a:r>
              <a:rPr lang="en-US" sz="2400" b="1" baseline="30000" dirty="0"/>
              <a:t>th </a:t>
            </a:r>
            <a:r>
              <a:rPr lang="en-US" sz="2400" b="1" dirty="0"/>
              <a:t> century</a:t>
            </a:r>
            <a:r>
              <a:rPr lang="en-US" sz="2400" dirty="0"/>
              <a:t>, which offered moving letters in messages with a number of variable places instead of moving them the same number of places.</a:t>
            </a:r>
          </a:p>
          <a:p>
            <a:endParaRPr lang="en-US" sz="2400" dirty="0"/>
          </a:p>
          <a:p>
            <a:r>
              <a:rPr lang="en-US" sz="2400" dirty="0"/>
              <a:t>The rise of mathematical rigor in the </a:t>
            </a:r>
            <a:r>
              <a:rPr lang="en-US" sz="2400" b="1" dirty="0"/>
              <a:t>20</a:t>
            </a:r>
            <a:r>
              <a:rPr lang="en-US" sz="2400" b="1" baseline="30000" dirty="0"/>
              <a:t>th</a:t>
            </a:r>
            <a:r>
              <a:rPr lang="en-US" sz="2400" b="1" dirty="0"/>
              <a:t>  century</a:t>
            </a:r>
            <a:r>
              <a:rPr lang="en-US" sz="2400" dirty="0"/>
              <a:t>, </a:t>
            </a:r>
            <a:r>
              <a:rPr lang="en-US" sz="2400" b="1" dirty="0"/>
              <a:t>Enigma machines </a:t>
            </a:r>
            <a:r>
              <a:rPr lang="en-US" sz="2400" dirty="0"/>
              <a:t>were made during World War II, underscored the critical need for secure communication systems.</a:t>
            </a:r>
          </a:p>
          <a:p>
            <a:endParaRPr lang="en-US" sz="2400" dirty="0"/>
          </a:p>
          <a:p>
            <a:r>
              <a:rPr lang="en-IN" sz="2400" dirty="0"/>
              <a:t>Thus after that many more systems where made using mathematical operations.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C5026-5149-595C-A2F5-12D45A3F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Types of Cryptography</a:t>
            </a:r>
            <a:endParaRPr lang="en-IN" sz="3600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2C8CF-5C06-4D01-56D0-4A62FD0F5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23619"/>
          </a:xfrm>
        </p:spPr>
        <p:txBody>
          <a:bodyPr>
            <a:normAutofit lnSpcReduction="10000"/>
          </a:bodyPr>
          <a:lstStyle/>
          <a:p>
            <a:r>
              <a:rPr lang="en-US" sz="2800" b="1" dirty="0"/>
              <a:t>Symmetric Key Cryptography: </a:t>
            </a:r>
            <a:r>
              <a:rPr lang="en-US" sz="2400" dirty="0"/>
              <a:t>The cryptographic method in which the same key is used for both encryption and decryption of information 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b="1" dirty="0"/>
              <a:t>Asymmetric Key Cryptography:</a:t>
            </a:r>
            <a:r>
              <a:rPr lang="en-US" sz="2400" b="1" dirty="0"/>
              <a:t> </a:t>
            </a:r>
            <a:r>
              <a:rPr lang="en-US" sz="2400" dirty="0"/>
              <a:t>The cryptographic scheme that requires two different keys. One key is used for the encryption process, and the other is used for the decryption of the ciphertext.</a:t>
            </a:r>
          </a:p>
          <a:p>
            <a:endParaRPr lang="en-US" sz="2800" dirty="0"/>
          </a:p>
          <a:p>
            <a:r>
              <a:rPr lang="en-US" sz="2800" b="1" dirty="0"/>
              <a:t>Hashing : </a:t>
            </a:r>
            <a:r>
              <a:rPr lang="en-US" sz="2400" dirty="0"/>
              <a:t>It is the process of transforming any given key or a string of characters into another value.</a:t>
            </a:r>
          </a:p>
          <a:p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3810913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3058" y="328382"/>
            <a:ext cx="6843251" cy="806910"/>
          </a:xfrm>
        </p:spPr>
        <p:txBody>
          <a:bodyPr/>
          <a:lstStyle/>
          <a:p>
            <a:r>
              <a:rPr lang="en-US" sz="3600" dirty="0">
                <a:latin typeface="Bahnschrift SemiBold" panose="020B0502040204020203" pitchFamily="34" charset="0"/>
              </a:rPr>
              <a:t>Some</a:t>
            </a:r>
            <a:r>
              <a:rPr lang="en-US" dirty="0">
                <a:latin typeface="Bahnschrift SemiBold" panose="020B0502040204020203" pitchFamily="34" charset="0"/>
              </a:rPr>
              <a:t> </a:t>
            </a:r>
            <a:r>
              <a:rPr lang="en-US" sz="3600" dirty="0">
                <a:latin typeface="Bahnschrift SemiBold" panose="020B0502040204020203" pitchFamily="34" charset="0"/>
              </a:rPr>
              <a:t>Cryptosystems</a:t>
            </a:r>
            <a:endParaRPr sz="3600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84" y="1135292"/>
            <a:ext cx="8229600" cy="5394326"/>
          </a:xfrm>
        </p:spPr>
        <p:txBody>
          <a:bodyPr>
            <a:normAutofit/>
          </a:bodyPr>
          <a:lstStyle/>
          <a:p>
            <a:r>
              <a:rPr lang="en-US" sz="2000" dirty="0"/>
              <a:t>An enciphering transformation is a function that takes  plaintext message unit and gives ciphertext message unit and deciphering transformation is ciphertext back to plaintext message unit.</a:t>
            </a:r>
          </a:p>
          <a:p>
            <a:r>
              <a:rPr lang="en-US" sz="2000" dirty="0" err="1"/>
              <a:t>ie</a:t>
            </a:r>
            <a:r>
              <a:rPr lang="en-US" sz="2000" dirty="0"/>
              <a:t>, if we consider it as function,</a:t>
            </a:r>
          </a:p>
          <a:p>
            <a:endParaRPr lang="en-US" sz="2000" dirty="0"/>
          </a:p>
          <a:p>
            <a:r>
              <a:rPr lang="en-US" sz="2000" dirty="0"/>
              <a:t>Such set up is called </a:t>
            </a:r>
            <a:r>
              <a:rPr lang="en-US" sz="2000" b="1" dirty="0"/>
              <a:t>Cryptosystem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400" b="1" dirty="0"/>
              <a:t>Shift Transformation</a:t>
            </a:r>
            <a:r>
              <a:rPr lang="en-US" sz="1800" b="1" dirty="0"/>
              <a:t>: </a:t>
            </a:r>
            <a:r>
              <a:rPr lang="en-US" sz="1800" b="1" i="1" dirty="0"/>
              <a:t> </a:t>
            </a:r>
            <a:r>
              <a:rPr lang="en-US" sz="1800" dirty="0"/>
              <a:t>Suppose we are using the 26-letter alphabet A-Z with numerical equivalents 0-25.</a:t>
            </a:r>
            <a:endParaRPr lang="en-US" sz="1800" b="1" i="1" dirty="0"/>
          </a:p>
          <a:p>
            <a:pPr marL="400050" lvl="1" indent="0" algn="just">
              <a:buNone/>
            </a:pPr>
            <a:r>
              <a:rPr lang="en-US" sz="1800" i="1" dirty="0"/>
              <a:t>      Example- Let</a:t>
            </a:r>
            <a:r>
              <a:rPr lang="en-US" sz="1800" dirty="0"/>
              <a:t> the letter P∈ {0, 1, 2, . . . , 25} stand for a plaintext message . </a:t>
            </a:r>
            <a:r>
              <a:rPr lang="en-IN" sz="1800" dirty="0"/>
              <a:t>A function defined is,</a:t>
            </a:r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With this system the word “YES” converts to “VHV”</a:t>
            </a:r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73DB8C-9365-6F86-1F08-A82F2E9D3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0" y="2140055"/>
            <a:ext cx="2522874" cy="7671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8CAFDB-8C09-78A5-5885-ACB4E524E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2136" y="4899677"/>
            <a:ext cx="2522874" cy="8230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23900"/>
            <a:ext cx="8229600" cy="5410200"/>
          </a:xfrm>
        </p:spPr>
        <p:txBody>
          <a:bodyPr>
            <a:normAutofit/>
          </a:bodyPr>
          <a:lstStyle/>
          <a:p>
            <a:r>
              <a:rPr lang="en-US" sz="2400" b="1" dirty="0"/>
              <a:t>Cryptoanalysis</a:t>
            </a:r>
            <a:r>
              <a:rPr lang="en-US" sz="2000" b="1" dirty="0"/>
              <a:t>: </a:t>
            </a:r>
            <a:r>
              <a:rPr lang="en-US" sz="2000" dirty="0"/>
              <a:t>The science of breaking codes is called cryptanalysis.</a:t>
            </a:r>
          </a:p>
          <a:p>
            <a:r>
              <a:rPr lang="en-US" sz="2000" dirty="0"/>
              <a:t>To break a cryptosystem, one needs to understand its general structure and determine specific parameters, such as the shift value </a:t>
            </a:r>
            <a:r>
              <a:rPr lang="en-US" sz="2000" b="1" dirty="0"/>
              <a:t>b</a:t>
            </a:r>
            <a:r>
              <a:rPr lang="en-US" sz="2000" dirty="0"/>
              <a:t> in a shift cipher.</a:t>
            </a:r>
          </a:p>
          <a:p>
            <a:r>
              <a:rPr lang="en-US" sz="2000" dirty="0"/>
              <a:t>For example, if we intercept the encrypted message </a:t>
            </a:r>
            <a:r>
              <a:rPr lang="en-US" sz="2000" b="1" dirty="0"/>
              <a:t>"FQOCUDEM“</a:t>
            </a:r>
          </a:p>
          <a:p>
            <a:pPr marL="0" indent="0">
              <a:buNone/>
            </a:pPr>
            <a:r>
              <a:rPr lang="en-US" sz="2000" b="1" dirty="0"/>
              <a:t>                           </a:t>
            </a:r>
            <a:r>
              <a:rPr lang="en-US" sz="2000" dirty="0"/>
              <a:t>we get  </a:t>
            </a:r>
            <a:r>
              <a:rPr lang="en-US" sz="2000" b="1" dirty="0"/>
              <a:t>20 ≡ 4 + b mod 26</a:t>
            </a:r>
            <a:r>
              <a:rPr lang="en-US" sz="2000" dirty="0"/>
              <a:t>, giving </a:t>
            </a:r>
            <a:r>
              <a:rPr lang="en-US" sz="2000" b="1" dirty="0"/>
              <a:t>b = 16</a:t>
            </a:r>
            <a:r>
              <a:rPr lang="en-US" sz="2000" dirty="0"/>
              <a:t>. </a:t>
            </a:r>
          </a:p>
          <a:p>
            <a:r>
              <a:rPr lang="en-US" sz="2000" dirty="0"/>
              <a:t>Deciphering </a:t>
            </a:r>
            <a:r>
              <a:rPr lang="en-US" sz="2000" b="1" dirty="0"/>
              <a:t>"FQOCUDEM"</a:t>
            </a:r>
            <a:r>
              <a:rPr lang="en-US" sz="2000" dirty="0"/>
              <a:t> by subtracting 16 (mod 26) yields </a:t>
            </a:r>
            <a:r>
              <a:rPr lang="en-US" sz="2000" b="1" dirty="0"/>
              <a:t>"PAYMENOW"</a:t>
            </a:r>
            <a:r>
              <a:rPr lang="en-US" sz="2000" dirty="0"/>
              <a:t>, revealing the original message.</a:t>
            </a:r>
            <a:endParaRPr lang="en-IN" sz="2000" b="1" dirty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400" b="1" dirty="0"/>
          </a:p>
          <a:p>
            <a:r>
              <a:rPr lang="en-IN" sz="2400" b="1" dirty="0">
                <a:latin typeface="Calibri (body)"/>
              </a:rPr>
              <a:t>Affine Transformation</a:t>
            </a:r>
            <a:r>
              <a:rPr lang="en-IN" sz="2000" b="1" dirty="0">
                <a:latin typeface="Calibri (body)"/>
              </a:rPr>
              <a:t>:</a:t>
            </a:r>
            <a:r>
              <a:rPr lang="en-US" sz="2000" b="1" dirty="0">
                <a:latin typeface="Calibri (body)"/>
              </a:rPr>
              <a:t> </a:t>
            </a:r>
            <a:r>
              <a:rPr lang="en-US" sz="2000" dirty="0">
                <a:latin typeface="Calibri (body)"/>
              </a:rPr>
              <a:t>I</a:t>
            </a:r>
            <a:r>
              <a:rPr lang="en-US" sz="2000" dirty="0"/>
              <a:t>mproves upon simple shift ciphers by using the transformation </a:t>
            </a:r>
            <a:r>
              <a:rPr lang="en-US" sz="2000" b="1" dirty="0"/>
              <a:t>C ≡ </a:t>
            </a:r>
            <a:r>
              <a:rPr lang="en-US" sz="2000" b="1" dirty="0" err="1"/>
              <a:t>aP</a:t>
            </a:r>
            <a:r>
              <a:rPr lang="en-US" sz="2000" b="1" dirty="0"/>
              <a:t> + b mod N</a:t>
            </a:r>
            <a:r>
              <a:rPr lang="en-US" sz="2000" dirty="0"/>
              <a:t>, where </a:t>
            </a:r>
            <a:r>
              <a:rPr lang="en-US" sz="2000" b="1" dirty="0"/>
              <a:t>a</a:t>
            </a:r>
            <a:r>
              <a:rPr lang="en-US" sz="2000" dirty="0"/>
              <a:t> and </a:t>
            </a:r>
            <a:r>
              <a:rPr lang="en-US" sz="2000" b="1" dirty="0"/>
              <a:t>b</a:t>
            </a:r>
            <a:r>
              <a:rPr lang="en-US" sz="2000" dirty="0"/>
              <a:t> form the enciphering key.</a:t>
            </a:r>
          </a:p>
          <a:p>
            <a:r>
              <a:rPr lang="en-US" sz="2000" dirty="0"/>
              <a:t>Decryption requires solving </a:t>
            </a:r>
            <a:r>
              <a:rPr lang="en-US" sz="2000" b="1" dirty="0"/>
              <a:t>P ≡ </a:t>
            </a:r>
            <a:r>
              <a:rPr lang="en-US" sz="2000" b="1" dirty="0" err="1"/>
              <a:t>a′C</a:t>
            </a:r>
            <a:r>
              <a:rPr lang="en-US" sz="2000" b="1" dirty="0"/>
              <a:t> + b′ mod N, </a:t>
            </a:r>
            <a:r>
              <a:rPr lang="en-US" sz="2000" dirty="0"/>
              <a:t>ensuring </a:t>
            </a:r>
            <a:r>
              <a:rPr lang="en-US" sz="2000" b="1" dirty="0" err="1"/>
              <a:t>gcd</a:t>
            </a:r>
            <a:r>
              <a:rPr lang="en-US" sz="2000" b="1" dirty="0"/>
              <a:t>(a, N) &gt;= 1</a:t>
            </a:r>
            <a:r>
              <a:rPr lang="en-US" sz="2000" dirty="0"/>
              <a:t> for uniqueness.</a:t>
            </a:r>
            <a:endParaRPr lang="en-US" sz="2000" b="1" dirty="0"/>
          </a:p>
          <a:p>
            <a:endParaRPr lang="en-US" sz="2000" b="1" dirty="0">
              <a:latin typeface="Calibri (body)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7368" y="-25911"/>
            <a:ext cx="8229600" cy="114300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Bahnschrift SemiBold" panose="020B0502040204020203" pitchFamily="34" charset="0"/>
              </a:rPr>
              <a:t>Some Examples of Secrecy Systems</a:t>
            </a:r>
            <a:endParaRPr sz="3200" dirty="0">
              <a:latin typeface="Bahnschrift SemiBold" panose="020B0502040204020203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65471" y="1091380"/>
                <a:ext cx="8593394" cy="5388078"/>
              </a:xfrm>
            </p:spPr>
            <p:txBody>
              <a:bodyPr>
                <a:noAutofit/>
              </a:bodyPr>
              <a:lstStyle/>
              <a:p>
                <a:r>
                  <a:rPr lang="en-US" sz="1900" b="1" dirty="0"/>
                  <a:t>Simple Substitution Cipher</a:t>
                </a:r>
                <a:r>
                  <a:rPr lang="en-US" sz="1900" dirty="0"/>
                  <a:t>: This cipher replaces each letter with a fixed substitute based on a key, which is a permutation of the alphabet. </a:t>
                </a:r>
              </a:p>
              <a:p>
                <a:endParaRPr lang="en-US" sz="1900" dirty="0"/>
              </a:p>
              <a:p>
                <a:r>
                  <a:rPr lang="en-US" sz="1900" b="1" dirty="0"/>
                  <a:t>Transposition</a:t>
                </a:r>
                <a:r>
                  <a:rPr lang="en-US" sz="1900" dirty="0"/>
                  <a:t>: In this cipher, the message is divided into groups of length </a:t>
                </a:r>
                <a:r>
                  <a:rPr lang="en-US" sz="1900" b="1" dirty="0"/>
                  <a:t>d</a:t>
                </a:r>
                <a:r>
                  <a:rPr lang="en-US" sz="1900" dirty="0"/>
                  <a:t>, and a fixed permutation is applied to each group. The key is a permutation of the first </a:t>
                </a:r>
                <a:r>
                  <a:rPr lang="en-US" sz="1900" b="1" dirty="0"/>
                  <a:t>d</a:t>
                </a:r>
                <a:r>
                  <a:rPr lang="en-US" sz="1900" dirty="0"/>
                  <a:t> integers.</a:t>
                </a:r>
              </a:p>
              <a:p>
                <a:pPr lvl="1"/>
                <a:r>
                  <a:rPr lang="en-US" sz="1900" dirty="0"/>
                  <a:t> For </a:t>
                </a:r>
                <a:r>
                  <a:rPr lang="en-US" sz="1900" b="1" dirty="0"/>
                  <a:t>d = 5</a:t>
                </a:r>
                <a:r>
                  <a:rPr lang="en-US" sz="1900" dirty="0"/>
                  <a:t>, a permutation </a:t>
                </a:r>
                <a:r>
                  <a:rPr lang="en-US" sz="1900" b="1" dirty="0"/>
                  <a:t>(2 3 1 5 4)</a:t>
                </a:r>
                <a:r>
                  <a:rPr lang="en-US" sz="1900" dirty="0"/>
                  <a:t> transforms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19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19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19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19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1900" dirty="0"/>
                  <a:t>. Multiple transpositions create a </a:t>
                </a:r>
                <a:r>
                  <a:rPr lang="en-US" sz="1900" b="1" dirty="0"/>
                  <a:t>compound transposition</a:t>
                </a:r>
                <a:r>
                  <a:rPr lang="en-US" sz="1900" dirty="0"/>
                  <a:t>, with the final period being the </a:t>
                </a:r>
                <a:r>
                  <a:rPr lang="en-US" sz="1900" b="1" dirty="0"/>
                  <a:t>LCM</a:t>
                </a:r>
                <a:r>
                  <a:rPr lang="en-US" sz="1900" dirty="0"/>
                  <a:t> of individual periods.</a:t>
                </a:r>
              </a:p>
              <a:p>
                <a:pPr marL="0" indent="0">
                  <a:buNone/>
                </a:pPr>
                <a:endParaRPr lang="en-US" sz="1900" dirty="0"/>
              </a:p>
              <a:p>
                <a:r>
                  <a:rPr lang="en-US" sz="1900" b="1" dirty="0" err="1"/>
                  <a:t>Vigenere</a:t>
                </a:r>
                <a:r>
                  <a:rPr lang="en-US" sz="1900" b="1" dirty="0"/>
                  <a:t> Cipher</a:t>
                </a:r>
                <a:r>
                  <a:rPr lang="en-US" sz="1900" dirty="0"/>
                  <a:t>:</a:t>
                </a:r>
                <a:r>
                  <a:rPr lang="en-IN" sz="1900" dirty="0"/>
                  <a:t> It is a polyalphabetic substitution cipher where each letter in the plaintext is shifted based on a repeating keyword. </a:t>
                </a:r>
              </a:p>
              <a:p>
                <a:pPr marL="0" indent="0">
                  <a:buNone/>
                </a:pPr>
                <a:endParaRPr lang="en-US" sz="1900" dirty="0"/>
              </a:p>
              <a:p>
                <a:r>
                  <a:rPr lang="en-US" sz="1900" b="1" dirty="0"/>
                  <a:t>Autokey Cipher:</a:t>
                </a:r>
                <a:r>
                  <a:rPr lang="en-US" sz="1900" dirty="0"/>
                  <a:t>  An </a:t>
                </a:r>
                <a:r>
                  <a:rPr lang="en-US" sz="1900" b="1" dirty="0"/>
                  <a:t>autokey cipher</a:t>
                </a:r>
                <a:r>
                  <a:rPr lang="en-US" sz="1900" dirty="0"/>
                  <a:t> extends the key using the plaintext or ciphertext after an initial priming key, reducing repetition. Decryption reverses this process using the priming key.</a:t>
                </a:r>
                <a:endParaRPr sz="1900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65471" y="1091380"/>
                <a:ext cx="8593394" cy="5388078"/>
              </a:xfrm>
              <a:blipFill>
                <a:blip r:embed="rId2"/>
                <a:stretch>
                  <a:fillRect l="-568" t="-566" r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28484"/>
            <a:ext cx="8229600" cy="1143000"/>
          </a:xfrm>
        </p:spPr>
        <p:txBody>
          <a:bodyPr>
            <a:normAutofit/>
          </a:bodyPr>
          <a:lstStyle/>
          <a:p>
            <a:r>
              <a:rPr sz="3600" dirty="0">
                <a:latin typeface="Bahnschrift SemiBold" panose="020B0502040204020203" pitchFamily="34" charset="0"/>
              </a:rPr>
              <a:t>Graph Theory in Cryptography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14517"/>
            <a:ext cx="8229600" cy="3862284"/>
          </a:xfrm>
        </p:spPr>
        <p:txBody>
          <a:bodyPr>
            <a:normAutofit/>
          </a:bodyPr>
          <a:lstStyle/>
          <a:p>
            <a:r>
              <a:rPr sz="2200" dirty="0"/>
              <a:t>Graph theory is used to model secure communication networks.</a:t>
            </a:r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We represent each character of the message to be encrypted as the vertices of the graph &amp; edges store encrypted values.</a:t>
            </a:r>
          </a:p>
          <a:p>
            <a:endParaRPr lang="en-US" sz="2200" dirty="0"/>
          </a:p>
          <a:p>
            <a:r>
              <a:rPr lang="en-US" sz="2200" dirty="0"/>
              <a:t>By using a keyword, we encode the message in such a way that each letter of the message would be converted to the number of letters between it and the corresponding letters of the keyword using the encoding table.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4A368-C45F-51AE-1B52-A18DD0FFC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68645"/>
            <a:ext cx="8372168" cy="184846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D03D70-8B8D-95D4-ED4E-3B550EB83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5911" y="0"/>
            <a:ext cx="7266038" cy="6858001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Bahnschrift SemiBold" panose="020B0502040204020203" pitchFamily="34" charset="0"/>
              </a:rPr>
              <a:t>Proposed Algorithm</a:t>
            </a:r>
            <a:endParaRPr sz="3600" dirty="0">
              <a:latin typeface="Bahnschrift SemiBol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57020"/>
          </a:xfrm>
        </p:spPr>
        <p:txBody>
          <a:bodyPr>
            <a:noAutofit/>
          </a:bodyPr>
          <a:lstStyle/>
          <a:p>
            <a:r>
              <a:rPr lang="en-US" sz="2300" dirty="0"/>
              <a:t>Encryption converts plaintext into a graph, forming a cyclic structure with vertices as characters.</a:t>
            </a:r>
          </a:p>
          <a:p>
            <a:endParaRPr lang="en-US" sz="2300" dirty="0"/>
          </a:p>
          <a:p>
            <a:r>
              <a:rPr lang="en-US" sz="2300" dirty="0"/>
              <a:t> A keyword encodes letters, and edge weights are computed. </a:t>
            </a:r>
          </a:p>
          <a:p>
            <a:endParaRPr lang="en-US" sz="2300" dirty="0"/>
          </a:p>
          <a:p>
            <a:r>
              <a:rPr lang="en-US" sz="2300" dirty="0"/>
              <a:t>The graph is completed, and an adjacency matrix </a:t>
            </a:r>
            <a:r>
              <a:rPr lang="en-US" sz="2300" b="1" dirty="0"/>
              <a:t>M1</a:t>
            </a:r>
            <a:r>
              <a:rPr lang="en-US" sz="2300" dirty="0"/>
              <a:t> is formed. </a:t>
            </a:r>
          </a:p>
          <a:p>
            <a:endParaRPr lang="en-US" sz="2300" dirty="0"/>
          </a:p>
          <a:p>
            <a:r>
              <a:rPr lang="en-US" sz="2300" dirty="0"/>
              <a:t>A </a:t>
            </a:r>
            <a:r>
              <a:rPr lang="en-US" sz="2300" b="1" dirty="0"/>
              <a:t>Minimum Spanning Tree (MST)</a:t>
            </a:r>
            <a:r>
              <a:rPr lang="en-US" sz="2300" dirty="0"/>
              <a:t> generates </a:t>
            </a:r>
            <a:r>
              <a:rPr lang="en-US" sz="2300" b="1" dirty="0"/>
              <a:t>M2</a:t>
            </a:r>
            <a:r>
              <a:rPr lang="en-US" sz="2300" dirty="0"/>
              <a:t>, which is modified and multiplied with </a:t>
            </a:r>
            <a:r>
              <a:rPr lang="en-US" sz="2300" b="1" dirty="0"/>
              <a:t>M1</a:t>
            </a:r>
            <a:r>
              <a:rPr lang="en-US" sz="2300" dirty="0"/>
              <a:t> and a shared key </a:t>
            </a:r>
            <a:r>
              <a:rPr lang="en-US" sz="2300" b="1" dirty="0"/>
              <a:t>K</a:t>
            </a:r>
            <a:r>
              <a:rPr lang="en-US" sz="2300" dirty="0"/>
              <a:t> to produce ciphertext </a:t>
            </a:r>
            <a:r>
              <a:rPr lang="en-US" sz="2300" b="1" dirty="0"/>
              <a:t>C</a:t>
            </a:r>
            <a:r>
              <a:rPr lang="en-US" sz="2300" dirty="0"/>
              <a:t>. </a:t>
            </a:r>
          </a:p>
          <a:p>
            <a:endParaRPr lang="en-US" sz="2300" dirty="0"/>
          </a:p>
          <a:p>
            <a:r>
              <a:rPr lang="en-US" sz="2300" dirty="0"/>
              <a:t>Decryption reverses this process using the inverse of </a:t>
            </a:r>
            <a:r>
              <a:rPr lang="en-US" sz="2300" b="1" dirty="0"/>
              <a:t>K</a:t>
            </a:r>
            <a:r>
              <a:rPr lang="en-US" sz="2300" dirty="0"/>
              <a:t> and </a:t>
            </a:r>
            <a:r>
              <a:rPr lang="en-US" sz="2300" b="1" dirty="0"/>
              <a:t>M1</a:t>
            </a:r>
            <a:r>
              <a:rPr lang="en-US" sz="2300" dirty="0"/>
              <a:t> to reconstruct the original message.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>
                <a:latin typeface="Bahnschrift SemiBold" panose="020B0502040204020203" pitchFamily="34" charset="0"/>
              </a:rPr>
              <a:t>Cryptography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</a:t>
            </a:r>
            <a:r>
              <a:rPr lang="en-US" dirty="0" err="1"/>
              <a:t>Whatsapp</a:t>
            </a:r>
            <a:r>
              <a:rPr lang="en-US" dirty="0"/>
              <a:t> Encryption:</a:t>
            </a:r>
          </a:p>
          <a:p>
            <a:pPr marL="857250" lvl="1" indent="-457200"/>
            <a:r>
              <a:rPr lang="en-US" dirty="0"/>
              <a:t>How it uses?</a:t>
            </a:r>
          </a:p>
          <a:p>
            <a:pPr marL="1257300" lvl="2" indent="-457200">
              <a:buAutoNum type="arabicPeriod"/>
            </a:pPr>
            <a:r>
              <a:rPr lang="en-IN" dirty="0"/>
              <a:t>End-to-End Encryption (E2EE)</a:t>
            </a:r>
          </a:p>
          <a:p>
            <a:pPr marL="1257300" lvl="2" indent="-457200">
              <a:buAutoNum type="arabicPeriod"/>
            </a:pPr>
            <a:r>
              <a:rPr lang="en-IN" dirty="0"/>
              <a:t>Public and Private key pair</a:t>
            </a:r>
          </a:p>
          <a:p>
            <a:pPr marL="1257300" lvl="2" indent="-457200">
              <a:buAutoNum type="arabicPeriod"/>
            </a:pPr>
            <a:r>
              <a:rPr lang="en-US" dirty="0"/>
              <a:t>Session Keys for Secure Communication</a:t>
            </a:r>
            <a:endParaRPr lang="en-IN" dirty="0"/>
          </a:p>
          <a:p>
            <a:pPr marL="1257300" lvl="2" indent="-457200">
              <a:buAutoNum type="arabicPeriod"/>
            </a:pPr>
            <a:r>
              <a:rPr lang="en-IN" dirty="0"/>
              <a:t>Forward Secrecy</a:t>
            </a:r>
          </a:p>
          <a:p>
            <a:pPr marL="1257300" lvl="2" indent="-457200">
              <a:buAutoNum type="arabicPeriod"/>
            </a:pPr>
            <a:r>
              <a:rPr lang="en-IN" dirty="0"/>
              <a:t>Verifying Encryption 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Bahnschrift SemiBold" panose="020B0502040204020203" pitchFamily="34" charset="0"/>
              </a:rPr>
              <a:t>Cryptography in Daily Life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Network Security:</a:t>
            </a:r>
          </a:p>
          <a:p>
            <a:pPr lvl="1"/>
            <a:r>
              <a:rPr lang="en-US" dirty="0"/>
              <a:t>How does graphs used in cryptography?</a:t>
            </a:r>
          </a:p>
          <a:p>
            <a:pPr lvl="2"/>
            <a:r>
              <a:rPr lang="en-US" dirty="0"/>
              <a:t>They provide a mathematical structure that allows complex problems to be represented visually and computationally.</a:t>
            </a:r>
          </a:p>
          <a:p>
            <a:pPr lvl="2"/>
            <a:r>
              <a:rPr lang="en-US" dirty="0"/>
              <a:t>Finding the shortest or most complex paths, are also used in encryption methods to make breaking the security system extremely difficult.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200" dirty="0">
                <a:latin typeface="Bahnschrift SemiBold" panose="020B0502040204020203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8194"/>
            <a:ext cx="8229600" cy="4847969"/>
          </a:xfrm>
        </p:spPr>
        <p:txBody>
          <a:bodyPr>
            <a:normAutofit/>
          </a:bodyPr>
          <a:lstStyle/>
          <a:p>
            <a:r>
              <a:rPr lang="en-US" sz="2800" dirty="0"/>
              <a:t>It is evident that cryptography has transitioned from being a military tool to an indispensable aspect of everyday life, ensuring confidentiality, integrity, authentication, and non-repudiation in digital communications.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dirty="0"/>
          </a:p>
          <a:p>
            <a:r>
              <a:rPr sz="2800" u="sng" dirty="0"/>
              <a:t>References:</a:t>
            </a:r>
          </a:p>
          <a:p>
            <a:pPr marL="457200" lvl="1" indent="0">
              <a:buNone/>
            </a:pPr>
            <a:r>
              <a:rPr lang="en-US" sz="2000" dirty="0"/>
              <a:t>1.</a:t>
            </a:r>
            <a:r>
              <a:rPr sz="2000" dirty="0"/>
              <a:t>Cryptography: Theory and Practice by Douglas R. Stinson</a:t>
            </a:r>
          </a:p>
          <a:p>
            <a:pPr marL="457200" lvl="1" indent="0">
              <a:buNone/>
            </a:pPr>
            <a:r>
              <a:rPr sz="2000" dirty="0"/>
              <a:t>2. Cryptography: An Introduction by V.V. </a:t>
            </a:r>
            <a:r>
              <a:rPr sz="2000" dirty="0" err="1"/>
              <a:t>Yaschenko</a:t>
            </a: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A9C38-85CB-A9B0-3E27-F745F2AF1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38632"/>
            <a:ext cx="8229600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659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1098</Words>
  <Application>Microsoft Office PowerPoint</Application>
  <PresentationFormat>On-screen Show (4:3)</PresentationFormat>
  <Paragraphs>109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Bahnschrift</vt:lpstr>
      <vt:lpstr>Bahnschrift SemiBold</vt:lpstr>
      <vt:lpstr>Calibri</vt:lpstr>
      <vt:lpstr>Calibri (body)</vt:lpstr>
      <vt:lpstr>Cambria Math</vt:lpstr>
      <vt:lpstr>Helvetica World</vt:lpstr>
      <vt:lpstr>Office Theme</vt:lpstr>
      <vt:lpstr>MATHEMATICS OF SECURE COMMUNICATION</vt:lpstr>
      <vt:lpstr>Introduction to Cryptography</vt:lpstr>
      <vt:lpstr>Key Terms in Cryptography</vt:lpstr>
      <vt:lpstr>History of Cryptography</vt:lpstr>
      <vt:lpstr>Evolution of Cryptography</vt:lpstr>
      <vt:lpstr>Types of Cryptography</vt:lpstr>
      <vt:lpstr>Some Cryptosystems</vt:lpstr>
      <vt:lpstr>PowerPoint Presentation</vt:lpstr>
      <vt:lpstr>Some Examples of Secrecy Systems</vt:lpstr>
      <vt:lpstr>Graph Theory in Cryptography</vt:lpstr>
      <vt:lpstr>PowerPoint Presentation</vt:lpstr>
      <vt:lpstr>Proposed Algorithm</vt:lpstr>
      <vt:lpstr>Cryptography in Daily Life</vt:lpstr>
      <vt:lpstr>Cryptography in Daily Life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Anaswara Pyarilal</cp:lastModifiedBy>
  <cp:revision>4</cp:revision>
  <dcterms:created xsi:type="dcterms:W3CDTF">2013-01-27T09:14:16Z</dcterms:created>
  <dcterms:modified xsi:type="dcterms:W3CDTF">2025-02-21T02:34:00Z</dcterms:modified>
  <cp:category/>
</cp:coreProperties>
</file>